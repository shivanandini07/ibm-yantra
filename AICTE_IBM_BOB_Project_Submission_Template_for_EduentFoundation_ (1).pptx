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jut+kKH8mGpgABE1hL/yNtTg7B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E2EF6F-95E8-4345-9FD9-351B8A174956}">
  <a:tblStyle styleId="{98E2EF6F-95E8-4345-9FD9-351B8A17495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aa9495876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faa949587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aa9495876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faa949587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aa9495876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faa949587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aa9495876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faa949587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aa9495876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faa949587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faa9495876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faa949587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faa9495876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faa949587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aa9495876_0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faa9495876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9"/>
          <p:cNvSpPr/>
          <p:nvPr>
            <p:ph idx="2" type="pic"/>
          </p:nvPr>
        </p:nvSpPr>
        <p:spPr>
          <a:xfrm>
            <a:off x="5183188" y="987425"/>
            <a:ext cx="6172200" cy="4873625"/>
          </a:xfrm>
          <a:prstGeom prst="rect">
            <a:avLst/>
          </a:prstGeom>
          <a:noFill/>
          <a:ln>
            <a:noFill/>
          </a:ln>
        </p:spPr>
      </p:sp>
      <p:sp>
        <p:nvSpPr>
          <p:cNvPr id="58" name="Google Shape;58;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github.com/shivanandini07/IBM-YANTRA"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1"/>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IBM Bob”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299257" y="2600315"/>
          <a:ext cx="3000000" cy="3000000"/>
        </p:xfrm>
        <a:graphic>
          <a:graphicData uri="http://schemas.openxmlformats.org/drawingml/2006/table">
            <a:tbl>
              <a:tblPr>
                <a:noFill/>
                <a:tableStyleId>{98E2EF6F-95E8-4345-9FD9-351B8A174956}</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rPr b="1" lang="en-US" sz="1800"/>
                        <a:t>Shivanandini S</a:t>
                      </a:r>
                      <a:endParaRPr b="1"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700"/>
                        <a:t>Shivanandinisubramanian@gmail</a:t>
                      </a:r>
                      <a:endParaRPr b="1" sz="17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2100"/>
                        <a:t>6379309281</a:t>
                      </a:r>
                      <a:endParaRPr b="1" sz="21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2"/>
          <p:cNvSpPr txBox="1"/>
          <p:nvPr/>
        </p:nvSpPr>
        <p:spPr>
          <a:xfrm>
            <a:off x="1206164" y="1460724"/>
            <a:ext cx="10280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 </a:t>
            </a:r>
            <a:r>
              <a:rPr b="1" lang="en-US" sz="2400">
                <a:highlight>
                  <a:schemeClr val="lt1"/>
                </a:highlight>
              </a:rPr>
              <a:t>Mechanical Engineering: (Machine Learning project) </a:t>
            </a:r>
            <a:endParaRPr b="1" i="0" sz="2400" u="none" cap="none" strike="noStrike">
              <a:solidFill>
                <a:srgbClr val="000000"/>
              </a:solidFill>
              <a:highlight>
                <a:schemeClr val="lt1"/>
              </a:highlight>
              <a:latin typeface="Arial"/>
              <a:ea typeface="Arial"/>
              <a:cs typeface="Arial"/>
              <a:sym typeface="Arial"/>
            </a:endParaRPr>
          </a:p>
        </p:txBody>
      </p:sp>
      <p:sp>
        <p:nvSpPr>
          <p:cNvPr id="88" name="Google Shape;88;p2"/>
          <p:cNvSpPr txBox="1"/>
          <p:nvPr/>
        </p:nvSpPr>
        <p:spPr>
          <a:xfrm>
            <a:off x="1206162" y="551965"/>
            <a:ext cx="958117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400">
                <a:highlight>
                  <a:schemeClr val="lt1"/>
                </a:highlight>
              </a:rPr>
              <a:t>Predictive Maintenance of Industrial Machinery</a:t>
            </a:r>
            <a:r>
              <a:rPr b="1" lang="en-US" sz="2400">
                <a:highlight>
                  <a:srgbClr val="FFFF00"/>
                </a:highlight>
              </a:rPr>
              <a:t> </a:t>
            </a:r>
            <a:endParaRPr b="1" i="0" sz="2400" u="none" cap="none" strike="noStrike">
              <a:solidFill>
                <a:srgbClr val="000000"/>
              </a:solidFill>
              <a:highlight>
                <a:srgbClr val="FFFF00"/>
              </a:highlight>
              <a:latin typeface="Arial"/>
              <a:ea typeface="Arial"/>
              <a:cs typeface="Arial"/>
              <a:sym typeface="Arial"/>
            </a:endParaRPr>
          </a:p>
        </p:txBody>
      </p:sp>
      <p:pic>
        <p:nvPicPr>
          <p:cNvPr id="89" name="Google Shape;89;p2"/>
          <p:cNvPicPr preferRelativeResize="0"/>
          <p:nvPr/>
        </p:nvPicPr>
        <p:blipFill>
          <a:blip r:embed="rId3">
            <a:alphaModFix/>
          </a:blip>
          <a:stretch>
            <a:fillRect/>
          </a:stretch>
        </p:blipFill>
        <p:spPr>
          <a:xfrm>
            <a:off x="4173925" y="3573550"/>
            <a:ext cx="792100" cy="9031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nvSpPr>
        <p:spPr>
          <a:xfrm>
            <a:off x="576075" y="1234450"/>
            <a:ext cx="10894500" cy="6118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Clr>
                <a:schemeClr val="dk1"/>
              </a:buClr>
              <a:buSzPts val="1100"/>
              <a:buFont typeface="Arial"/>
              <a:buNone/>
            </a:pPr>
            <a:r>
              <a:rPr b="1" lang="en-US" sz="1700">
                <a:solidFill>
                  <a:schemeClr val="dk1"/>
                </a:solidFill>
              </a:rPr>
              <a:t>The Challenge</a:t>
            </a:r>
            <a:endParaRPr b="1" sz="2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Industrial machines operate continuously under changing temperature, rotational speed, torque, and tool-wear conditions. Unexpected machine failures can lead to unplanned downtime, maintenance delays, production losses, and increased operational costs. Traditional reactive or fixed-schedule maintenance may not identify developing failure risks early enough.</a:t>
            </a: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700">
                <a:solidFill>
                  <a:schemeClr val="dk1"/>
                </a:solidFill>
              </a:rPr>
              <a:t>The Objective</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Build an </a:t>
            </a:r>
            <a:r>
              <a:rPr b="1" lang="en-US" sz="1500">
                <a:solidFill>
                  <a:schemeClr val="dk1"/>
                </a:solidFill>
              </a:rPr>
              <a:t>AI-powered Predictive Maintenance System</a:t>
            </a:r>
            <a:r>
              <a:rPr lang="en-US" sz="1500">
                <a:solidFill>
                  <a:schemeClr val="dk1"/>
                </a:solidFill>
              </a:rPr>
              <a:t> that analyzes machine operating data to identify </a:t>
            </a:r>
            <a:r>
              <a:rPr b="1" lang="en-US" sz="1500">
                <a:solidFill>
                  <a:schemeClr val="dk1"/>
                </a:solidFill>
              </a:rPr>
              <a:t>machine failure risk</a:t>
            </a:r>
            <a:r>
              <a:rPr lang="en-US" sz="1500">
                <a:solidFill>
                  <a:schemeClr val="dk1"/>
                </a:solidFill>
              </a:rPr>
              <a:t> and support timely maintenance decisions.</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The solution should:</a:t>
            </a:r>
            <a:endParaRPr sz="15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US" sz="1500">
                <a:solidFill>
                  <a:schemeClr val="dk1"/>
                </a:solidFill>
              </a:rPr>
              <a:t>Failure Prediction</a:t>
            </a:r>
            <a:r>
              <a:rPr lang="en-US" sz="1500">
                <a:solidFill>
                  <a:schemeClr val="dk1"/>
                </a:solidFill>
              </a:rPr>
              <a:t> – Predict the probability of machine failure from sensor/operational data.</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Risk Assessment</a:t>
            </a:r>
            <a:r>
              <a:rPr lang="en-US" sz="1500">
                <a:solidFill>
                  <a:schemeClr val="dk1"/>
                </a:solidFill>
              </a:rPr>
              <a:t> – Convert prediction probability into clear machine-health risk levels.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Explainable AI</a:t>
            </a:r>
            <a:r>
              <a:rPr lang="en-US" sz="1500">
                <a:solidFill>
                  <a:schemeClr val="dk1"/>
                </a:solidFill>
              </a:rPr>
              <a:t> – Identify the most important factors contributing to the predicted risk.</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Inspection Priority</a:t>
            </a:r>
            <a:r>
              <a:rPr lang="en-US" sz="1500">
                <a:solidFill>
                  <a:schemeClr val="dk1"/>
                </a:solidFill>
              </a:rPr>
              <a:t> – Help prioritize machines/observations requiring attention.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Maintenance Recommendation</a:t>
            </a:r>
            <a:r>
              <a:rPr lang="en-US" sz="1500">
                <a:solidFill>
                  <a:schemeClr val="dk1"/>
                </a:solidFill>
              </a:rPr>
              <a:t> – Provide practical, rule-based maintenance guidance.</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What-if Simulation</a:t>
            </a:r>
            <a:r>
              <a:rPr lang="en-US" sz="1500">
                <a:solidFill>
                  <a:schemeClr val="dk1"/>
                </a:solidFill>
              </a:rPr>
              <a:t> – Allow users to change operating conditions and observe how predicted risk changes.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IBM Cloud Deployment</a:t>
            </a:r>
            <a:r>
              <a:rPr lang="en-US" sz="1500">
                <a:solidFill>
                  <a:schemeClr val="dk1"/>
                </a:solidFill>
              </a:rPr>
              <a:t> – Train and deploy the predictive model using </a:t>
            </a:r>
            <a:r>
              <a:rPr b="1" lang="en-US" sz="1500">
                <a:solidFill>
                  <a:schemeClr val="dk1"/>
                </a:solidFill>
              </a:rPr>
              <a:t>IBM watsonx.ai Studio and watsonx.ai Runtime</a:t>
            </a:r>
            <a:r>
              <a:rPr lang="en-US" sz="1500">
                <a:solidFill>
                  <a:schemeClr val="dk1"/>
                </a:solidFill>
              </a:rPr>
              <a:t>.</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Interactive Dashboard</a:t>
            </a:r>
            <a:r>
              <a:rPr lang="en-US" sz="1500">
                <a:solidFill>
                  <a:schemeClr val="dk1"/>
                </a:solidFill>
              </a:rPr>
              <a:t> – Provide a user-friendly interface for prediction, explanation, and decision support.</a:t>
            </a:r>
            <a:endParaRPr sz="1500">
              <a:solidFill>
                <a:schemeClr val="dk1"/>
              </a:solidFill>
            </a:endParaRPr>
          </a:p>
          <a:p>
            <a:pPr indent="0" lvl="0" marL="0" marR="0" rtl="0" algn="l">
              <a:lnSpc>
                <a:spcPct val="100000"/>
              </a:lnSpc>
              <a:spcBef>
                <a:spcPts val="1200"/>
              </a:spcBef>
              <a:spcAft>
                <a:spcPts val="0"/>
              </a:spcAft>
              <a:buNone/>
            </a:pPr>
            <a:r>
              <a:t/>
            </a:r>
            <a:endParaRPr b="1" sz="1800"/>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 name="Google Shape;95;p3"/>
          <p:cNvSpPr txBox="1"/>
          <p:nvPr/>
        </p:nvSpPr>
        <p:spPr>
          <a:xfrm>
            <a:off x="656372" y="655888"/>
            <a:ext cx="7214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Predictive Maintenance of Industrial Machinery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nvSpPr>
        <p:spPr>
          <a:xfrm>
            <a:off x="0" y="960450"/>
            <a:ext cx="12192000" cy="6591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rPr>
              <a:t>Proposed Solution: AI-Powered Predictive Maintenance System</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rPr>
              <a:t>The proposed solution is an intelligent machine-health decision-support system built using IBM Bob, Python, machine-learning models, IBM watsonx.ai Studio, and watsonx.ai Runtime. The system analyzes industrial machine operating data to predict failure risk and convert predictions into actionable maintenance insights. IBM watsonx.ai Studio is used for data analysis and model development, while watsonx.ai Runtime is used to run and deploy the ML solution.</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rPr>
              <a:t>At its core, YantraGuard AI uses the AI4I 2020 Predictive Maintenance Dataset and follows a leakage-safe ML workflow covering data validation, preprocessing, feature engineering, model training, and evaluation.</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rPr>
              <a:t>The system evaluates Logistic Regression, Random Forest, and XGBoost models and selects the best model based on failure-focused evaluation metrics rather than accuracy alone.</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rPr>
              <a:t>The solution provides several key capabilities:</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rPr>
              <a:t>Machine Health Prediction — Predicts the probability of machine failure from operating conditions.</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rPr>
              <a:t>Risk Assessment — Converts failure probability into understandable risk levels such as Low, Moderate, High, and Critical.</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rPr>
              <a:t>Explainable AI — Identifies important risk drivers using model feature importance/SHAP to make predictions understandable.</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rPr>
              <a:t>Inspection Priority — Helps determine which observations require greater inspection attention.</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rPr>
              <a:t>Maintenance Recommendation — Generates practical, rule-based maintenance guidance based on predicted machine condition.</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rPr>
              <a:t>What-if Simulation — Allows users to modify operating parameters and observe how the model-based failure risk changes.</a:t>
            </a:r>
            <a:endParaRPr b="1" sz="1200">
              <a:solidFill>
                <a:schemeClr val="dk1"/>
              </a:solidFill>
            </a:endParaRPr>
          </a:p>
          <a:p>
            <a:pPr indent="0" lvl="0" marL="0" rtl="0" algn="l">
              <a:lnSpc>
                <a:spcPct val="115000"/>
              </a:lnSpc>
              <a:spcBef>
                <a:spcPts val="1200"/>
              </a:spcBef>
              <a:spcAft>
                <a:spcPts val="0"/>
              </a:spcAft>
              <a:buSzPts val="1100"/>
              <a:buNone/>
            </a:pPr>
            <a:r>
              <a:rPr b="1" lang="en-US" sz="1200">
                <a:solidFill>
                  <a:schemeClr val="dk1"/>
                </a:solidFill>
              </a:rPr>
              <a:t>The trained model is deployed through an IBM watsonx.ai Runtime deployment space and exposed through an online inference endpoint, allowing the YantraGuard dashboard to obtain real-time predictions.</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rPr>
              <a:t>Overall, YantraGuard AI transforms raw machine sensor data into a complete Prediction → Explanation → Risk → Decision → Maintenance workflow, helping users move from reactive maintenance toward data-driven predictive maintenance.</a:t>
            </a:r>
            <a:endParaRPr b="1" sz="1200">
              <a:solidFill>
                <a:schemeClr val="dk1"/>
              </a:solidFill>
            </a:endParaRPr>
          </a:p>
          <a:p>
            <a:pPr indent="0" lvl="0" marL="0" marR="0" rtl="0" algn="l">
              <a:lnSpc>
                <a:spcPct val="100000"/>
              </a:lnSpc>
              <a:spcBef>
                <a:spcPts val="1200"/>
              </a:spcBef>
              <a:spcAft>
                <a:spcPts val="0"/>
              </a:spcAft>
              <a:buNone/>
            </a:pPr>
            <a:r>
              <a:t/>
            </a:r>
            <a:endParaRPr b="1" sz="1500"/>
          </a:p>
          <a:p>
            <a:pPr indent="0" lvl="0" marL="0" marR="0" rtl="0" algn="l">
              <a:lnSpc>
                <a:spcPct val="100000"/>
              </a:lnSpc>
              <a:spcBef>
                <a:spcPts val="0"/>
              </a:spcBef>
              <a:spcAft>
                <a:spcPts val="0"/>
              </a:spcAft>
              <a:buNone/>
            </a:pPr>
            <a:r>
              <a:t/>
            </a:r>
            <a:endParaRPr b="1" i="0" sz="1500" u="none" cap="none" strike="noStrike">
              <a:solidFill>
                <a:srgbClr val="000000"/>
              </a:solidFill>
            </a:endParaRPr>
          </a:p>
        </p:txBody>
      </p:sp>
      <p:sp>
        <p:nvSpPr>
          <p:cNvPr id="101" name="Google Shape;101;p4"/>
          <p:cNvSpPr txBox="1"/>
          <p:nvPr/>
        </p:nvSpPr>
        <p:spPr>
          <a:xfrm>
            <a:off x="576075" y="231285"/>
            <a:ext cx="7214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Predictive Maintenance of Industrial Machinery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07" name="Google Shape;107;p5"/>
          <p:cNvSpPr txBox="1"/>
          <p:nvPr/>
        </p:nvSpPr>
        <p:spPr>
          <a:xfrm>
            <a:off x="777240" y="1207008"/>
            <a:ext cx="10515600" cy="6033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US" sz="2000">
                <a:solidFill>
                  <a:schemeClr val="dk1"/>
                </a:solidFill>
              </a:rPr>
              <a:t>IBM Bob</a:t>
            </a:r>
            <a:r>
              <a:rPr lang="en-US" sz="2000">
                <a:solidFill>
                  <a:schemeClr val="dk1"/>
                </a:solidFill>
              </a:rPr>
              <a:t> – For AI-assisted project development, code generation, debugging, testing, and application orchestration.</a:t>
            </a:r>
            <a:endParaRPr sz="2000">
              <a:solidFill>
                <a:schemeClr val="dk1"/>
              </a:solidFill>
            </a:endParaRPr>
          </a:p>
          <a:p>
            <a:pPr indent="0" lvl="0" marL="0" rtl="0" algn="l">
              <a:spcBef>
                <a:spcPts val="0"/>
              </a:spcBef>
              <a:spcAft>
                <a:spcPts val="0"/>
              </a:spcAft>
              <a:buClr>
                <a:schemeClr val="dk1"/>
              </a:buClr>
              <a:buSzPts val="1100"/>
              <a:buFont typeface="Arial"/>
              <a:buNone/>
            </a:pPr>
            <a:r>
              <a:rPr b="1" lang="en-US" sz="2000">
                <a:solidFill>
                  <a:schemeClr val="dk1"/>
                </a:solidFill>
              </a:rPr>
              <a:t>Python</a:t>
            </a:r>
            <a:r>
              <a:rPr lang="en-US" sz="2000">
                <a:solidFill>
                  <a:schemeClr val="dk1"/>
                </a:solidFill>
              </a:rPr>
              <a:t> – For data processing, feature engineering, machine-learning development, and backend logic.</a:t>
            </a:r>
            <a:endParaRPr sz="2000">
              <a:solidFill>
                <a:schemeClr val="dk1"/>
              </a:solidFill>
            </a:endParaRPr>
          </a:p>
          <a:p>
            <a:pPr indent="0" lvl="0" marL="0" rtl="0" algn="l">
              <a:spcBef>
                <a:spcPts val="0"/>
              </a:spcBef>
              <a:spcAft>
                <a:spcPts val="0"/>
              </a:spcAft>
              <a:buClr>
                <a:schemeClr val="dk1"/>
              </a:buClr>
              <a:buSzPts val="1100"/>
              <a:buFont typeface="Arial"/>
              <a:buNone/>
            </a:pPr>
            <a:r>
              <a:rPr b="1" lang="en-US" sz="2000">
                <a:solidFill>
                  <a:schemeClr val="dk1"/>
                </a:solidFill>
              </a:rPr>
              <a:t>Machine Learning</a:t>
            </a:r>
            <a:r>
              <a:rPr lang="en-US" sz="2000">
                <a:solidFill>
                  <a:schemeClr val="dk1"/>
                </a:solidFill>
              </a:rPr>
              <a:t> – </a:t>
            </a:r>
            <a:r>
              <a:rPr b="1" lang="en-US" sz="2000">
                <a:solidFill>
                  <a:schemeClr val="dk1"/>
                </a:solidFill>
              </a:rPr>
              <a:t>Logistic Regression, Random Forest, and XGBoost</a:t>
            </a:r>
            <a:r>
              <a:rPr lang="en-US" sz="2000">
                <a:solidFill>
                  <a:schemeClr val="dk1"/>
                </a:solidFill>
              </a:rPr>
              <a:t> for predictive machine-failure classification.</a:t>
            </a:r>
            <a:endParaRPr sz="2000">
              <a:solidFill>
                <a:schemeClr val="dk1"/>
              </a:solidFill>
            </a:endParaRPr>
          </a:p>
          <a:p>
            <a:pPr indent="0" lvl="0" marL="0" rtl="0" algn="l">
              <a:spcBef>
                <a:spcPts val="0"/>
              </a:spcBef>
              <a:spcAft>
                <a:spcPts val="0"/>
              </a:spcAft>
              <a:buClr>
                <a:schemeClr val="dk1"/>
              </a:buClr>
              <a:buSzPts val="1100"/>
              <a:buFont typeface="Arial"/>
              <a:buNone/>
            </a:pPr>
            <a:r>
              <a:rPr b="1" lang="en-US" sz="2000">
                <a:solidFill>
                  <a:schemeClr val="dk1"/>
                </a:solidFill>
              </a:rPr>
              <a:t>SHAP</a:t>
            </a:r>
            <a:r>
              <a:rPr lang="en-US" sz="2000">
                <a:solidFill>
                  <a:schemeClr val="dk1"/>
                </a:solidFill>
              </a:rPr>
              <a:t> – For explainable AI and identifying the key features influencing machine-failure predictions.</a:t>
            </a:r>
            <a:endParaRPr sz="2000">
              <a:solidFill>
                <a:schemeClr val="dk1"/>
              </a:solidFill>
            </a:endParaRPr>
          </a:p>
          <a:p>
            <a:pPr indent="0" lvl="0" marL="0" rtl="0" algn="l">
              <a:spcBef>
                <a:spcPts val="0"/>
              </a:spcBef>
              <a:spcAft>
                <a:spcPts val="0"/>
              </a:spcAft>
              <a:buClr>
                <a:schemeClr val="dk1"/>
              </a:buClr>
              <a:buSzPts val="1100"/>
              <a:buFont typeface="Arial"/>
              <a:buNone/>
            </a:pPr>
            <a:r>
              <a:rPr b="1" lang="en-US" sz="2000">
                <a:solidFill>
                  <a:schemeClr val="dk1"/>
                </a:solidFill>
              </a:rPr>
              <a:t>IBM Cloud</a:t>
            </a:r>
            <a:r>
              <a:rPr lang="en-US" sz="2000">
                <a:solidFill>
                  <a:schemeClr val="dk1"/>
                </a:solidFill>
              </a:rPr>
              <a:t> – Provides the cloud infrastructure for securely developing, managing, and deploying YantraGuard AI.</a:t>
            </a:r>
            <a:endParaRPr sz="2000">
              <a:solidFill>
                <a:schemeClr val="dk1"/>
              </a:solidFill>
            </a:endParaRPr>
          </a:p>
          <a:p>
            <a:pPr indent="0" lvl="0" marL="0" rtl="0" algn="l">
              <a:spcBef>
                <a:spcPts val="0"/>
              </a:spcBef>
              <a:spcAft>
                <a:spcPts val="0"/>
              </a:spcAft>
              <a:buClr>
                <a:schemeClr val="dk1"/>
              </a:buClr>
              <a:buSzPts val="1100"/>
              <a:buFont typeface="Arial"/>
              <a:buNone/>
            </a:pPr>
            <a:r>
              <a:rPr b="1" lang="en-US" sz="2000">
                <a:solidFill>
                  <a:schemeClr val="dk1"/>
                </a:solidFill>
              </a:rPr>
              <a:t>IBM watsonx.ai Studio</a:t>
            </a:r>
            <a:r>
              <a:rPr lang="en-US" sz="2000">
                <a:solidFill>
                  <a:schemeClr val="dk1"/>
                </a:solidFill>
              </a:rPr>
              <a:t> – For dataset analysis, Jupyter notebook development, model training, evaluation, and experimentation.</a:t>
            </a:r>
            <a:endParaRPr sz="2000">
              <a:solidFill>
                <a:schemeClr val="dk1"/>
              </a:solidFill>
            </a:endParaRPr>
          </a:p>
          <a:p>
            <a:pPr indent="0" lvl="0" marL="0" rtl="0" algn="l">
              <a:spcBef>
                <a:spcPts val="0"/>
              </a:spcBef>
              <a:spcAft>
                <a:spcPts val="0"/>
              </a:spcAft>
              <a:buClr>
                <a:schemeClr val="dk1"/>
              </a:buClr>
              <a:buSzPts val="1100"/>
              <a:buFont typeface="Arial"/>
              <a:buNone/>
            </a:pPr>
            <a:r>
              <a:rPr b="1" lang="en-US" sz="2000">
                <a:solidFill>
                  <a:schemeClr val="dk1"/>
                </a:solidFill>
              </a:rPr>
              <a:t>IBM watsonx.ai Runtime</a:t>
            </a:r>
            <a:r>
              <a:rPr lang="en-US" sz="2000">
                <a:solidFill>
                  <a:schemeClr val="dk1"/>
                </a:solidFill>
              </a:rPr>
              <a:t> – For registering, deploying, and serving the trained predictive-maintenance model through an online inference endpoint.</a:t>
            </a:r>
            <a:endParaRPr sz="2000">
              <a:solidFill>
                <a:schemeClr val="dk1"/>
              </a:solidFill>
            </a:endParaRPr>
          </a:p>
          <a:p>
            <a:pPr indent="0" lvl="0" marL="0" rtl="0" algn="l">
              <a:spcBef>
                <a:spcPts val="0"/>
              </a:spcBef>
              <a:spcAft>
                <a:spcPts val="0"/>
              </a:spcAft>
              <a:buClr>
                <a:schemeClr val="dk1"/>
              </a:buClr>
              <a:buSzPts val="1100"/>
              <a:buFont typeface="Arial"/>
              <a:buNone/>
            </a:pPr>
            <a:r>
              <a:rPr b="1" lang="en-US" sz="2000">
                <a:solidFill>
                  <a:schemeClr val="dk1"/>
                </a:solidFill>
              </a:rPr>
              <a:t>IBM Cloud Object Storage</a:t>
            </a:r>
            <a:r>
              <a:rPr lang="en-US" sz="2000">
                <a:solidFill>
                  <a:schemeClr val="dk1"/>
                </a:solidFill>
              </a:rPr>
              <a:t> – For storing the AI4I dataset and project/model assets.</a:t>
            </a:r>
            <a:endParaRPr sz="2000">
              <a:solidFill>
                <a:schemeClr val="dk1"/>
              </a:solidFill>
            </a:endParaRPr>
          </a:p>
          <a:p>
            <a:pPr indent="0" lvl="0" marL="0" rtl="0" algn="l">
              <a:spcBef>
                <a:spcPts val="0"/>
              </a:spcBef>
              <a:spcAft>
                <a:spcPts val="0"/>
              </a:spcAft>
              <a:buClr>
                <a:schemeClr val="dk1"/>
              </a:buClr>
              <a:buSzPts val="1100"/>
              <a:buFont typeface="Arial"/>
              <a:buNone/>
            </a:pPr>
            <a:r>
              <a:rPr b="1" lang="en-US" sz="2000">
                <a:solidFill>
                  <a:schemeClr val="dk1"/>
                </a:solidFill>
              </a:rPr>
              <a:t>Streamlit</a:t>
            </a:r>
            <a:r>
              <a:rPr lang="en-US" sz="2000">
                <a:solidFill>
                  <a:schemeClr val="dk1"/>
                </a:solidFill>
              </a:rPr>
              <a:t> – For building the interactive YantraGuard AI dashboard for machine-health prediction, risk assessment, explanations, recommendations, and what-if analysis.</a:t>
            </a:r>
            <a:endParaRPr sz="2000">
              <a:solidFill>
                <a:schemeClr val="dk1"/>
              </a:solidFill>
            </a:endParaRPr>
          </a:p>
          <a:p>
            <a:pPr indent="0" lvl="0" marL="0" marR="0" rtl="0" algn="l">
              <a:lnSpc>
                <a:spcPct val="100000"/>
              </a:lnSpc>
              <a:spcBef>
                <a:spcPts val="0"/>
              </a:spcBef>
              <a:spcAft>
                <a:spcPts val="0"/>
              </a:spcAft>
              <a:buNone/>
            </a:pPr>
            <a:r>
              <a:t/>
            </a:r>
            <a:endParaRPr b="1" sz="3200"/>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6"/>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Required Files created using IBM bob -</a:t>
            </a:r>
            <a:endParaRPr b="1" i="0" sz="2400" u="none" cap="none" strike="noStrike">
              <a:solidFill>
                <a:srgbClr val="000000"/>
              </a:solidFill>
              <a:latin typeface="Arial"/>
              <a:ea typeface="Arial"/>
              <a:cs typeface="Arial"/>
              <a:sym typeface="Arial"/>
            </a:endParaRPr>
          </a:p>
        </p:txBody>
      </p:sp>
      <p:sp>
        <p:nvSpPr>
          <p:cNvPr id="113" name="Google Shape;113;p6"/>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4" name="Google Shape;114;p6"/>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5" name="Google Shape;115;p6"/>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6" name="Google Shape;116;p6"/>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7" name="Google Shape;117;p6"/>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8" name="Google Shape;118;p6"/>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pic>
        <p:nvPicPr>
          <p:cNvPr id="119" name="Google Shape;119;p6"/>
          <p:cNvPicPr preferRelativeResize="0"/>
          <p:nvPr/>
        </p:nvPicPr>
        <p:blipFill>
          <a:blip r:embed="rId3">
            <a:alphaModFix/>
          </a:blip>
          <a:stretch>
            <a:fillRect/>
          </a:stretch>
        </p:blipFill>
        <p:spPr>
          <a:xfrm>
            <a:off x="960925" y="924147"/>
            <a:ext cx="10776224" cy="57080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3500" u="none" cap="none" strike="noStrike">
                <a:solidFill>
                  <a:srgbClr val="051D3A"/>
                </a:solidFill>
                <a:latin typeface="Times New Roman"/>
                <a:ea typeface="Times New Roman"/>
                <a:cs typeface="Times New Roman"/>
                <a:sym typeface="Times New Roman"/>
              </a:rPr>
              <a:t> </a:t>
            </a:r>
            <a:r>
              <a:rPr b="1" i="0" lang="en-US" sz="2400" u="none" cap="none" strike="noStrike">
                <a:solidFill>
                  <a:srgbClr val="051D3A"/>
                </a:solidFill>
                <a:latin typeface="Times New Roman"/>
                <a:ea typeface="Times New Roman"/>
                <a:cs typeface="Times New Roman"/>
                <a:sym typeface="Times New Roman"/>
              </a:rPr>
              <a:t>IBM Bob Screenshots:</a:t>
            </a:r>
            <a:endParaRPr b="1" i="0" sz="2400" u="none" cap="none" strike="noStrike">
              <a:solidFill>
                <a:srgbClr val="000000"/>
              </a:solidFill>
              <a:latin typeface="Arial"/>
              <a:ea typeface="Arial"/>
              <a:cs typeface="Arial"/>
              <a:sym typeface="Arial"/>
            </a:endParaRPr>
          </a:p>
        </p:txBody>
      </p:sp>
      <p:pic>
        <p:nvPicPr>
          <p:cNvPr id="125" name="Google Shape;125;p7"/>
          <p:cNvPicPr preferRelativeResize="0"/>
          <p:nvPr/>
        </p:nvPicPr>
        <p:blipFill>
          <a:blip r:embed="rId3">
            <a:alphaModFix/>
          </a:blip>
          <a:stretch>
            <a:fillRect/>
          </a:stretch>
        </p:blipFill>
        <p:spPr>
          <a:xfrm>
            <a:off x="537600" y="924147"/>
            <a:ext cx="10840224" cy="578145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8"/>
          <p:cNvPicPr preferRelativeResize="0"/>
          <p:nvPr/>
        </p:nvPicPr>
        <p:blipFill>
          <a:blip r:embed="rId3">
            <a:alphaModFix/>
          </a:blip>
          <a:stretch>
            <a:fillRect/>
          </a:stretch>
        </p:blipFill>
        <p:spPr>
          <a:xfrm>
            <a:off x="890200" y="510175"/>
            <a:ext cx="10475299" cy="55595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faa9495876_0_18"/>
          <p:cNvSpPr txBox="1"/>
          <p:nvPr>
            <p:ph type="title"/>
          </p:nvPr>
        </p:nvSpPr>
        <p:spPr>
          <a:xfrm>
            <a:off x="831850" y="170973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36" name="Google Shape;136;g3faa9495876_0_18"/>
          <p:cNvSpPr txBox="1"/>
          <p:nvPr>
            <p:ph idx="1" type="body"/>
          </p:nvPr>
        </p:nvSpPr>
        <p:spPr>
          <a:xfrm>
            <a:off x="831850" y="4589463"/>
            <a:ext cx="10515600" cy="1500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37" name="Google Shape;137;g3faa9495876_0_18"/>
          <p:cNvPicPr preferRelativeResize="0"/>
          <p:nvPr/>
        </p:nvPicPr>
        <p:blipFill>
          <a:blip r:embed="rId3">
            <a:alphaModFix/>
          </a:blip>
          <a:stretch>
            <a:fillRect/>
          </a:stretch>
        </p:blipFill>
        <p:spPr>
          <a:xfrm>
            <a:off x="202625" y="1051162"/>
            <a:ext cx="11786726" cy="50386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chemeClr val="dk1"/>
                </a:solidFill>
                <a:latin typeface="Calibri"/>
                <a:ea typeface="Calibri"/>
                <a:cs typeface="Calibri"/>
                <a:sym typeface="Calibri"/>
              </a:rPr>
              <a:t>Architecture blueprint for IBM bob:</a:t>
            </a:r>
            <a:endParaRPr b="0" i="0" sz="2400" u="none" cap="none" strike="noStrike">
              <a:solidFill>
                <a:srgbClr val="000000"/>
              </a:solidFill>
              <a:latin typeface="Arial"/>
              <a:ea typeface="Arial"/>
              <a:cs typeface="Arial"/>
              <a:sym typeface="Arial"/>
            </a:endParaRPr>
          </a:p>
        </p:txBody>
      </p:sp>
      <p:pic>
        <p:nvPicPr>
          <p:cNvPr id="143" name="Google Shape;143;p9"/>
          <p:cNvPicPr preferRelativeResize="0"/>
          <p:nvPr/>
        </p:nvPicPr>
        <p:blipFill>
          <a:blip r:embed="rId3">
            <a:alphaModFix/>
          </a:blip>
          <a:stretch>
            <a:fillRect/>
          </a:stretch>
        </p:blipFill>
        <p:spPr>
          <a:xfrm>
            <a:off x="137950" y="953025"/>
            <a:ext cx="11732875" cy="4182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0"/>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49" name="Google Shape;149;p10"/>
          <p:cNvSpPr txBox="1"/>
          <p:nvPr/>
        </p:nvSpPr>
        <p:spPr>
          <a:xfrm>
            <a:off x="555788" y="363789"/>
            <a:ext cx="93177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 Role of Agentic AI in YantraGuard AI </a:t>
            </a:r>
            <a:endParaRPr b="1" i="0" sz="3200" u="none" cap="none" strike="noStrike">
              <a:solidFill>
                <a:srgbClr val="000000"/>
              </a:solidFill>
              <a:latin typeface="Arial"/>
              <a:ea typeface="Arial"/>
              <a:cs typeface="Arial"/>
              <a:sym typeface="Arial"/>
            </a:endParaRPr>
          </a:p>
        </p:txBody>
      </p:sp>
      <p:sp>
        <p:nvSpPr>
          <p:cNvPr id="150" name="Google Shape;150;p10"/>
          <p:cNvSpPr txBox="1"/>
          <p:nvPr/>
        </p:nvSpPr>
        <p:spPr>
          <a:xfrm>
            <a:off x="555800" y="1441100"/>
            <a:ext cx="7406700" cy="5603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Agentic AI enables YantraGuard AI to function as an intelligent </a:t>
            </a:r>
            <a:r>
              <a:rPr b="1" lang="en-US" sz="1300">
                <a:solidFill>
                  <a:schemeClr val="dk1"/>
                </a:solidFill>
              </a:rPr>
              <a:t>machine-health decision-support system</a:t>
            </a:r>
            <a:r>
              <a:rPr lang="en-US" sz="1300">
                <a:solidFill>
                  <a:schemeClr val="dk1"/>
                </a:solidFill>
              </a:rPr>
              <a:t> rather than a simple prediction tool. Using </a:t>
            </a:r>
            <a:r>
              <a:rPr b="1" lang="en-US" sz="1300">
                <a:solidFill>
                  <a:schemeClr val="dk1"/>
                </a:solidFill>
              </a:rPr>
              <a:t>IBM watsonx.ai</a:t>
            </a:r>
            <a:r>
              <a:rPr lang="en-US" sz="1300">
                <a:solidFill>
                  <a:schemeClr val="dk1"/>
                </a:solidFill>
              </a:rPr>
              <a:t> and IBM Bob, the solution coordinates multiple stages of the predictive-maintenance workflow.</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The system processes machine sensor inputs such as </a:t>
            </a:r>
            <a:r>
              <a:rPr b="1" lang="en-US" sz="1300">
                <a:solidFill>
                  <a:schemeClr val="dk1"/>
                </a:solidFill>
              </a:rPr>
              <a:t>temperature, rotational speed, torque, and tool wear</a:t>
            </a:r>
            <a:r>
              <a:rPr lang="en-US" sz="1300">
                <a:solidFill>
                  <a:schemeClr val="dk1"/>
                </a:solidFill>
              </a:rPr>
              <a:t>, validates the data, and uses machine-learning models to estimate </a:t>
            </a:r>
            <a:r>
              <a:rPr b="1" lang="en-US" sz="1300">
                <a:solidFill>
                  <a:schemeClr val="dk1"/>
                </a:solidFill>
              </a:rPr>
              <a:t>machine failure probability</a:t>
            </a:r>
            <a:r>
              <a:rPr lang="en-US" sz="1300">
                <a:solidFill>
                  <a:schemeClr val="dk1"/>
                </a:solidFill>
              </a:rPr>
              <a:t>.</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Agentic AI supports intelligent decision-making by:</a:t>
            </a:r>
            <a:endParaRPr sz="13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US" sz="1300">
                <a:solidFill>
                  <a:schemeClr val="dk1"/>
                </a:solidFill>
              </a:rPr>
              <a:t>Analyzing sensor conditions</a:t>
            </a:r>
            <a:r>
              <a:rPr lang="en-US" sz="1300">
                <a:solidFill>
                  <a:schemeClr val="dk1"/>
                </a:solidFill>
              </a:rPr>
              <a:t> and identifying abnormal machine patterns.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Predicting failure risk</a:t>
            </a:r>
            <a:r>
              <a:rPr lang="en-US" sz="1300">
                <a:solidFill>
                  <a:schemeClr val="dk1"/>
                </a:solidFill>
              </a:rPr>
              <a:t> using Logistic Regression, Random Forest, and XGBoost.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Explaining predictions</a:t>
            </a:r>
            <a:r>
              <a:rPr lang="en-US" sz="1300">
                <a:solidFill>
                  <a:schemeClr val="dk1"/>
                </a:solidFill>
              </a:rPr>
              <a:t> using feature importance / SHAP-based insights.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Assigning inspection priority</a:t>
            </a:r>
            <a:r>
              <a:rPr lang="en-US" sz="1300">
                <a:solidFill>
                  <a:schemeClr val="dk1"/>
                </a:solidFill>
              </a:rPr>
              <a:t> based on predicted risk and defined severity rules.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Generating maintenance recommendations</a:t>
            </a:r>
            <a:r>
              <a:rPr lang="en-US" sz="1300">
                <a:solidFill>
                  <a:schemeClr val="dk1"/>
                </a:solidFill>
              </a:rPr>
              <a:t> according to the detected risk level.</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Supporting what-if analysis</a:t>
            </a:r>
            <a:r>
              <a:rPr lang="en-US" sz="1300">
                <a:solidFill>
                  <a:schemeClr val="dk1"/>
                </a:solidFill>
              </a:rPr>
              <a:t> by allowing users to test how changing sensor conditions can affect predicted risk.</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Overall, Agentic AI connects </a:t>
            </a:r>
            <a:r>
              <a:rPr b="1" lang="en-US" sz="1300">
                <a:solidFill>
                  <a:schemeClr val="dk1"/>
                </a:solidFill>
              </a:rPr>
              <a:t>prediction → explanation → prioritization → recommendation</a:t>
            </a:r>
            <a:r>
              <a:rPr lang="en-US" sz="1300">
                <a:solidFill>
                  <a:schemeClr val="dk1"/>
                </a:solidFill>
              </a:rPr>
              <a:t>, helping maintenance teams make faster and more informed decisions before potential machine failure.</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YantraGuard AI acts as an intelligent maintenance assistant that helps users predict, understand, and respond to machine-health risks.</a:t>
            </a:r>
            <a:endParaRPr b="1" sz="1300">
              <a:solidFill>
                <a:schemeClr val="dk1"/>
              </a:solidFill>
            </a:endParaRPr>
          </a:p>
          <a:p>
            <a:pPr indent="0" lvl="0" marL="0" marR="0" rtl="0" algn="l">
              <a:lnSpc>
                <a:spcPct val="100000"/>
              </a:lnSpc>
              <a:spcBef>
                <a:spcPts val="1200"/>
              </a:spcBef>
              <a:spcAft>
                <a:spcPts val="0"/>
              </a:spcAft>
              <a:buNone/>
            </a:pPr>
            <a:r>
              <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p:nvPr/>
        </p:nvSpPr>
        <p:spPr>
          <a:xfrm>
            <a:off x="793192" y="3415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Token Usage </a:t>
            </a:r>
            <a:endParaRPr b="1" i="0" sz="2400" u="none" cap="none" strike="noStrike">
              <a:solidFill>
                <a:srgbClr val="000000"/>
              </a:solidFill>
              <a:latin typeface="Arial"/>
              <a:ea typeface="Arial"/>
              <a:cs typeface="Arial"/>
              <a:sym typeface="Arial"/>
            </a:endParaRPr>
          </a:p>
        </p:txBody>
      </p:sp>
      <p:sp>
        <p:nvSpPr>
          <p:cNvPr id="156" name="Google Shape;156;p11"/>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7" name="Google Shape;157;p1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8" name="Google Shape;158;p1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9" name="Google Shape;159;p11"/>
          <p:cNvSpPr txBox="1"/>
          <p:nvPr/>
        </p:nvSpPr>
        <p:spPr>
          <a:xfrm>
            <a:off x="897392" y="1042133"/>
            <a:ext cx="437117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11,761 token are used</a:t>
            </a:r>
            <a:endParaRPr/>
          </a:p>
        </p:txBody>
      </p:sp>
      <p:sp>
        <p:nvSpPr>
          <p:cNvPr id="160" name="Google Shape;160;p11"/>
          <p:cNvSpPr txBox="1"/>
          <p:nvPr/>
        </p:nvSpPr>
        <p:spPr>
          <a:xfrm>
            <a:off x="1278639" y="1722917"/>
            <a:ext cx="2743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sng" cap="none" strike="noStrike">
                <a:solidFill>
                  <a:srgbClr val="000000"/>
                </a:solidFill>
                <a:latin typeface="Arial"/>
                <a:ea typeface="Arial"/>
                <a:cs typeface="Arial"/>
                <a:sym typeface="Arial"/>
              </a:rPr>
              <a:t>Before Prompt</a:t>
            </a:r>
            <a:endParaRPr/>
          </a:p>
        </p:txBody>
      </p:sp>
      <p:sp>
        <p:nvSpPr>
          <p:cNvPr id="161" name="Google Shape;161;p11"/>
          <p:cNvSpPr txBox="1"/>
          <p:nvPr/>
        </p:nvSpPr>
        <p:spPr>
          <a:xfrm>
            <a:off x="7106828" y="1722919"/>
            <a:ext cx="274319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sng" cap="none" strike="noStrike">
                <a:solidFill>
                  <a:srgbClr val="000000"/>
                </a:solidFill>
                <a:latin typeface="Arial"/>
                <a:ea typeface="Arial"/>
                <a:cs typeface="Arial"/>
                <a:sym typeface="Arial"/>
              </a:rPr>
              <a:t>After the Prompt</a:t>
            </a:r>
            <a:endParaRPr/>
          </a:p>
        </p:txBody>
      </p:sp>
      <p:pic>
        <p:nvPicPr>
          <p:cNvPr id="162" name="Google Shape;162;p11"/>
          <p:cNvPicPr preferRelativeResize="0"/>
          <p:nvPr/>
        </p:nvPicPr>
        <p:blipFill>
          <a:blip r:embed="rId3">
            <a:alphaModFix/>
          </a:blip>
          <a:stretch>
            <a:fillRect/>
          </a:stretch>
        </p:blipFill>
        <p:spPr>
          <a:xfrm>
            <a:off x="1218724" y="2982898"/>
            <a:ext cx="4371173" cy="2461576"/>
          </a:xfrm>
          <a:prstGeom prst="rect">
            <a:avLst/>
          </a:prstGeom>
          <a:noFill/>
          <a:ln>
            <a:noFill/>
          </a:ln>
        </p:spPr>
      </p:pic>
      <p:pic>
        <p:nvPicPr>
          <p:cNvPr id="163" name="Google Shape;163;p11"/>
          <p:cNvPicPr preferRelativeResize="0"/>
          <p:nvPr/>
        </p:nvPicPr>
        <p:blipFill>
          <a:blip r:embed="rId4">
            <a:alphaModFix/>
          </a:blip>
          <a:stretch>
            <a:fillRect/>
          </a:stretch>
        </p:blipFill>
        <p:spPr>
          <a:xfrm>
            <a:off x="6572150" y="2920063"/>
            <a:ext cx="4851101" cy="25872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2"/>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69" name="Google Shape;169;p12"/>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0" name="Google Shape;170;p1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1" name="Google Shape;171;p1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pic>
        <p:nvPicPr>
          <p:cNvPr id="172" name="Google Shape;172;p12"/>
          <p:cNvPicPr preferRelativeResize="0"/>
          <p:nvPr/>
        </p:nvPicPr>
        <p:blipFill>
          <a:blip r:embed="rId3">
            <a:alphaModFix/>
          </a:blip>
          <a:stretch>
            <a:fillRect/>
          </a:stretch>
        </p:blipFill>
        <p:spPr>
          <a:xfrm>
            <a:off x="897750" y="1248837"/>
            <a:ext cx="10514602" cy="39126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4"/>
          <p:cNvSpPr/>
          <p:nvPr/>
        </p:nvSpPr>
        <p:spPr>
          <a:xfrm>
            <a:off x="409144" y="112960"/>
            <a:ext cx="6444600" cy="7041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78" name="Google Shape;178;p14"/>
          <p:cNvSpPr/>
          <p:nvPr/>
        </p:nvSpPr>
        <p:spPr>
          <a:xfrm>
            <a:off x="1218724" y="3360216"/>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9" name="Google Shape;179;p14"/>
          <p:cNvSpPr/>
          <p:nvPr/>
        </p:nvSpPr>
        <p:spPr>
          <a:xfrm>
            <a:off x="1218724" y="4395464"/>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0" name="Google Shape;180;p14"/>
          <p:cNvSpPr/>
          <p:nvPr/>
        </p:nvSpPr>
        <p:spPr>
          <a:xfrm>
            <a:off x="1218724" y="5430713"/>
            <a:ext cx="7468500" cy="383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pic>
        <p:nvPicPr>
          <p:cNvPr id="181" name="Google Shape;181;p14"/>
          <p:cNvPicPr preferRelativeResize="0"/>
          <p:nvPr/>
        </p:nvPicPr>
        <p:blipFill>
          <a:blip r:embed="rId3">
            <a:alphaModFix/>
          </a:blip>
          <a:stretch>
            <a:fillRect/>
          </a:stretch>
        </p:blipFill>
        <p:spPr>
          <a:xfrm>
            <a:off x="626775" y="965740"/>
            <a:ext cx="10511750" cy="4566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faa9495876_0_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7" name="Google Shape;187;g3faa9495876_0_2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88" name="Google Shape;188;g3faa9495876_0_26"/>
          <p:cNvPicPr preferRelativeResize="0"/>
          <p:nvPr/>
        </p:nvPicPr>
        <p:blipFill>
          <a:blip r:embed="rId3">
            <a:alphaModFix/>
          </a:blip>
          <a:stretch>
            <a:fillRect/>
          </a:stretch>
        </p:blipFill>
        <p:spPr>
          <a:xfrm>
            <a:off x="604050" y="341599"/>
            <a:ext cx="10983909" cy="6174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faa9495876_0_3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94" name="Google Shape;194;g3faa9495876_0_3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95" name="Google Shape;195;g3faa9495876_0_32"/>
          <p:cNvPicPr preferRelativeResize="0"/>
          <p:nvPr/>
        </p:nvPicPr>
        <p:blipFill>
          <a:blip r:embed="rId3">
            <a:alphaModFix/>
          </a:blip>
          <a:stretch>
            <a:fillRect/>
          </a:stretch>
        </p:blipFill>
        <p:spPr>
          <a:xfrm>
            <a:off x="378275" y="256625"/>
            <a:ext cx="10975524" cy="608956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5"/>
          <p:cNvSpPr txBox="1"/>
          <p:nvPr/>
        </p:nvSpPr>
        <p:spPr>
          <a:xfrm>
            <a:off x="777250" y="231277"/>
            <a:ext cx="7123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201" name="Google Shape;201;p15"/>
          <p:cNvSpPr txBox="1"/>
          <p:nvPr/>
        </p:nvSpPr>
        <p:spPr>
          <a:xfrm>
            <a:off x="713000" y="692975"/>
            <a:ext cx="11301900" cy="6705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YantraGuard AI stands out by combining </a:t>
            </a:r>
            <a:r>
              <a:rPr b="1" lang="en-US" sz="1300">
                <a:solidFill>
                  <a:schemeClr val="dk1"/>
                </a:solidFill>
              </a:rPr>
              <a:t>Predictive Machine Learning, Explainable AI, Risk Assessment, and Maintenance Decision Support</a:t>
            </a:r>
            <a:r>
              <a:rPr lang="en-US" sz="1300">
                <a:solidFill>
                  <a:schemeClr val="dk1"/>
                </a:solidFill>
              </a:rPr>
              <a:t> into a single intelligent predictive-maintenance system.</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Failure-Risk Prediction</a:t>
            </a:r>
            <a:r>
              <a:rPr lang="en-US" sz="1300">
                <a:solidFill>
                  <a:schemeClr val="dk1"/>
                </a:solidFill>
              </a:rPr>
              <a:t> – Uses machine operating and sensor parameters to predict the probability of machine failure before relying on reactive maintenance.</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Multi-Model Intelligence</a:t>
            </a:r>
            <a:r>
              <a:rPr lang="en-US" sz="1300">
                <a:solidFill>
                  <a:schemeClr val="dk1"/>
                </a:solidFill>
              </a:rPr>
              <a:t> – Evaluates </a:t>
            </a:r>
            <a:r>
              <a:rPr b="1" lang="en-US" sz="1300">
                <a:solidFill>
                  <a:schemeClr val="dk1"/>
                </a:solidFill>
              </a:rPr>
              <a:t>Logistic Regression, Random Forest, and XGBoost</a:t>
            </a:r>
            <a:r>
              <a:rPr lang="en-US" sz="1300">
                <a:solidFill>
                  <a:schemeClr val="dk1"/>
                </a:solidFill>
              </a:rPr>
              <a:t> to identify the most suitable model based on failure-focused performance.</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Leakage-Safe Prediction</a:t>
            </a:r>
            <a:r>
              <a:rPr lang="en-US" sz="1300">
                <a:solidFill>
                  <a:schemeClr val="dk1"/>
                </a:solidFill>
              </a:rPr>
              <a:t> – Explicitly excludes target-derived and leakage-prone variables, improving the reliability and validity of the predictive pipeline.</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Explainable AI</a:t>
            </a:r>
            <a:r>
              <a:rPr lang="en-US" sz="1300">
                <a:solidFill>
                  <a:schemeClr val="dk1"/>
                </a:solidFill>
              </a:rPr>
              <a:t> – Uses feature importance / SHAP to show the key operating factors contributing to the predicted machine-failure risk.</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Intelligent Risk Assessment</a:t>
            </a:r>
            <a:r>
              <a:rPr lang="en-US" sz="1300">
                <a:solidFill>
                  <a:schemeClr val="dk1"/>
                </a:solidFill>
              </a:rPr>
              <a:t> – Converts failure probability into understandable </a:t>
            </a:r>
            <a:r>
              <a:rPr b="1" lang="en-US" sz="1300">
                <a:solidFill>
                  <a:schemeClr val="dk1"/>
                </a:solidFill>
              </a:rPr>
              <a:t>Low, Moderate, High, and Critical</a:t>
            </a:r>
            <a:r>
              <a:rPr lang="en-US" sz="1300">
                <a:solidFill>
                  <a:schemeClr val="dk1"/>
                </a:solidFill>
              </a:rPr>
              <a:t> machine-health risk levels.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Maintenance Decision Support</a:t>
            </a:r>
            <a:r>
              <a:rPr lang="en-US" sz="1300">
                <a:solidFill>
                  <a:schemeClr val="dk1"/>
                </a:solidFill>
              </a:rPr>
              <a:t> – Goes beyond prediction by providing </a:t>
            </a:r>
            <a:r>
              <a:rPr b="1" lang="en-US" sz="1300">
                <a:solidFill>
                  <a:schemeClr val="dk1"/>
                </a:solidFill>
              </a:rPr>
              <a:t>inspection priority and rule-based maintenance recommendations</a:t>
            </a:r>
            <a:r>
              <a:rPr lang="en-US" sz="1300">
                <a:solidFill>
                  <a:schemeClr val="dk1"/>
                </a:solidFill>
              </a:rPr>
              <a:t> based on machine condition.</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What-if Simulation</a:t>
            </a:r>
            <a:r>
              <a:rPr lang="en-US" sz="1300">
                <a:solidFill>
                  <a:schemeClr val="dk1"/>
                </a:solidFill>
              </a:rPr>
              <a:t> – Allows users to modify operating parameters and observe how the model-based failure risk changes under different scenarios.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IBM Cloud Deployment</a:t>
            </a:r>
            <a:r>
              <a:rPr lang="en-US" sz="1300">
                <a:solidFill>
                  <a:schemeClr val="dk1"/>
                </a:solidFill>
              </a:rPr>
              <a:t> – Uses </a:t>
            </a:r>
            <a:r>
              <a:rPr b="1" lang="en-US" sz="1300">
                <a:solidFill>
                  <a:schemeClr val="dk1"/>
                </a:solidFill>
              </a:rPr>
              <a:t>IBM watsonx.ai Studio and watsonx.ai Runtime</a:t>
            </a:r>
            <a:r>
              <a:rPr lang="en-US" sz="1300">
                <a:solidFill>
                  <a:schemeClr val="dk1"/>
                </a:solidFill>
              </a:rPr>
              <a:t> to develop and deploy the machine-learning solution through an online inference service.</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Interactive Dashboard</a:t>
            </a:r>
            <a:r>
              <a:rPr lang="en-US" sz="1300">
                <a:solidFill>
                  <a:schemeClr val="dk1"/>
                </a:solidFill>
              </a:rPr>
              <a:t> – Provides a user-friendly Streamlit interface that combines prediction, explanation, risk assessment, recommendations, and what-if analysis in one application.</a:t>
            </a:r>
            <a:endParaRPr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500">
                <a:solidFill>
                  <a:schemeClr val="dk1"/>
                </a:solidFill>
              </a:rPr>
              <a:t>Overall, YantraGuard AI transforms predictive maintenance from simple failure prediction into an integrated, explainable, and decision-oriented machine-health system.</a:t>
            </a:r>
            <a:endParaRPr b="1" sz="1500">
              <a:solidFill>
                <a:schemeClr val="dk1"/>
              </a:solidFill>
            </a:endParaRPr>
          </a:p>
          <a:p>
            <a:pPr indent="0" lvl="0" marL="0" marR="0" rtl="0" algn="l">
              <a:lnSpc>
                <a:spcPct val="100000"/>
              </a:lnSpc>
              <a:spcBef>
                <a:spcPts val="400"/>
              </a:spcBef>
              <a:spcAft>
                <a:spcPts val="0"/>
              </a:spcAft>
              <a:buNone/>
            </a:pPr>
            <a:r>
              <a:t/>
            </a:r>
            <a:endParaRPr sz="2000"/>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6"/>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207" name="Google Shape;207;p16"/>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lang="en-US" sz="2400" u="sng">
                <a:solidFill>
                  <a:schemeClr val="hlink"/>
                </a:solidFill>
                <a:hlinkClick r:id="rId3"/>
              </a:rPr>
              <a:t>shivanandini07/IBM-YANTRA: An IBM Cloud-powered predictive maintenance system that uses machine learning to predict equipment failure risk, explain key risk factors, prioritize inspections, recommend maintenance actions, and support what-if machine-health analysis.</a:t>
            </a:r>
            <a:r>
              <a:rPr lang="en-US" sz="2400">
                <a:solidFill>
                  <a:schemeClr val="dk1"/>
                </a:solidFill>
              </a:rPr>
              <a:t> </a:t>
            </a:r>
            <a:endParaRPr b="0" i="0" sz="3150" u="none" cap="none" strike="noStrike">
              <a:solidFill>
                <a:srgbClr val="000000"/>
              </a:solidFill>
              <a:latin typeface="Times New Roman"/>
              <a:ea typeface="Times New Roman"/>
              <a:cs typeface="Times New Roman"/>
              <a:sym typeface="Times New Roman"/>
            </a:endParaRPr>
          </a:p>
        </p:txBody>
      </p:sp>
      <p:sp>
        <p:nvSpPr>
          <p:cNvPr id="208" name="Google Shape;208;p16"/>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09" name="Google Shape;209;p16"/>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10" name="Google Shape;210;p16"/>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7"/>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216" name="Google Shape;216;p17"/>
          <p:cNvSpPr/>
          <p:nvPr/>
        </p:nvSpPr>
        <p:spPr>
          <a:xfrm>
            <a:off x="1218725" y="937951"/>
            <a:ext cx="9214500" cy="4560900"/>
          </a:xfrm>
          <a:prstGeom prst="rect">
            <a:avLst/>
          </a:prstGeom>
          <a:noFill/>
          <a:ln>
            <a:noFill/>
          </a:ln>
        </p:spPr>
        <p:txBody>
          <a:bodyPr anchorCtr="0" anchor="t" bIns="0" lIns="0" spcFirstLastPara="1" rIns="0" wrap="square" tIns="0">
            <a:noAutofit/>
          </a:bodyPr>
          <a:lstStyle/>
          <a:p>
            <a:pPr indent="-355600" lvl="0" marL="457200" rtl="0" algn="l">
              <a:lnSpc>
                <a:spcPct val="115000"/>
              </a:lnSpc>
              <a:spcBef>
                <a:spcPts val="1200"/>
              </a:spcBef>
              <a:spcAft>
                <a:spcPts val="0"/>
              </a:spcAft>
              <a:buClr>
                <a:schemeClr val="dk1"/>
              </a:buClr>
              <a:buSzPts val="2000"/>
              <a:buAutoNum type="arabicPeriod"/>
            </a:pPr>
            <a:r>
              <a:rPr b="1" lang="en-US" sz="2000">
                <a:solidFill>
                  <a:schemeClr val="dk1"/>
                </a:solidFill>
              </a:rPr>
              <a:t>Real-Time IoT Integration</a:t>
            </a:r>
            <a:r>
              <a:rPr lang="en-US" sz="2000">
                <a:solidFill>
                  <a:schemeClr val="dk1"/>
                </a:solidFill>
              </a:rPr>
              <a:t> – Integrate live industrial sensors for continuous machine-health monitoring.</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b="1" lang="en-US" sz="2000">
                <a:solidFill>
                  <a:schemeClr val="dk1"/>
                </a:solidFill>
              </a:rPr>
              <a:t>RUL Prediction</a:t>
            </a:r>
            <a:r>
              <a:rPr lang="en-US" sz="2000">
                <a:solidFill>
                  <a:schemeClr val="dk1"/>
                </a:solidFill>
              </a:rPr>
              <a:t> – Extend the system to estimate the Remaining Useful Life of machine components.</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b="1" lang="en-US" sz="2000">
                <a:solidFill>
                  <a:schemeClr val="dk1"/>
                </a:solidFill>
              </a:rPr>
              <a:t>Multi-Machine Monitoring</a:t>
            </a:r>
            <a:r>
              <a:rPr lang="en-US" sz="2000">
                <a:solidFill>
                  <a:schemeClr val="dk1"/>
                </a:solidFill>
              </a:rPr>
              <a:t> – Expand YantraGuard AI to monitor and prioritize multiple machines.</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b="1" lang="en-US" sz="2000">
                <a:solidFill>
                  <a:schemeClr val="dk1"/>
                </a:solidFill>
              </a:rPr>
              <a:t>Automated Alerts</a:t>
            </a:r>
            <a:r>
              <a:rPr lang="en-US" sz="2000">
                <a:solidFill>
                  <a:schemeClr val="dk1"/>
                </a:solidFill>
              </a:rPr>
              <a:t> – Generate real-time maintenance alerts when failure risk becomes critical.</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b="1" lang="en-US" sz="2000">
                <a:solidFill>
                  <a:schemeClr val="dk1"/>
                </a:solidFill>
              </a:rPr>
              <a:t>Continuous Learning</a:t>
            </a:r>
            <a:r>
              <a:rPr lang="en-US" sz="2000">
                <a:solidFill>
                  <a:schemeClr val="dk1"/>
                </a:solidFill>
              </a:rPr>
              <a:t> – Incorporate new machine data for model monitoring and periodic retraining.</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b="1" lang="en-US" sz="2000">
                <a:solidFill>
                  <a:schemeClr val="dk1"/>
                </a:solidFill>
              </a:rPr>
              <a:t>Digital Twin Integration</a:t>
            </a:r>
            <a:r>
              <a:rPr lang="en-US" sz="2000">
                <a:solidFill>
                  <a:schemeClr val="dk1"/>
                </a:solidFill>
              </a:rPr>
              <a:t> – Simulate machine operating conditions for advanced predictive-maintenance decisions.</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b="1" lang="en-US" sz="2000">
                <a:solidFill>
                  <a:schemeClr val="dk1"/>
                </a:solidFill>
              </a:rPr>
              <a:t>Edge AI Deployment</a:t>
            </a:r>
            <a:r>
              <a:rPr lang="en-US" sz="2000">
                <a:solidFill>
                  <a:schemeClr val="dk1"/>
                </a:solidFill>
              </a:rPr>
              <a:t> – Enable fast machine-health predictions closer to industrial equipment.</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b="1" lang="en-US" sz="2000">
                <a:solidFill>
                  <a:schemeClr val="dk1"/>
                </a:solidFill>
              </a:rPr>
              <a:t>Enterprise Scaling</a:t>
            </a:r>
            <a:r>
              <a:rPr lang="en-US" sz="2000">
                <a:solidFill>
                  <a:schemeClr val="dk1"/>
                </a:solidFill>
              </a:rPr>
              <a:t> – Extend the solution into a large-scale industrial predictive-maintenance platform.</a:t>
            </a:r>
            <a:endParaRPr sz="2000">
              <a:solidFill>
                <a:schemeClr val="dk1"/>
              </a:solidFill>
            </a:endParaRPr>
          </a:p>
          <a:p>
            <a:pPr indent="0" lvl="0" marL="0" marR="0" rtl="0" algn="l">
              <a:lnSpc>
                <a:spcPct val="162162"/>
              </a:lnSpc>
              <a:spcBef>
                <a:spcPts val="1200"/>
              </a:spcBef>
              <a:spcAft>
                <a:spcPts val="0"/>
              </a:spcAft>
              <a:buClr>
                <a:srgbClr val="2B3541"/>
              </a:buClr>
              <a:buSzPts val="1850"/>
              <a:buFont typeface="Times New Roman"/>
              <a:buNone/>
            </a:pPr>
            <a:r>
              <a:t/>
            </a:r>
            <a:endParaRPr b="1" sz="1850">
              <a:solidFill>
                <a:srgbClr val="2B3541"/>
              </a:solidFill>
              <a:latin typeface="Times New Roman"/>
              <a:ea typeface="Times New Roman"/>
              <a:cs typeface="Times New Roman"/>
              <a:sym typeface="Times New Roman"/>
            </a:endParaRPr>
          </a:p>
        </p:txBody>
      </p:sp>
      <p:sp>
        <p:nvSpPr>
          <p:cNvPr id="217" name="Google Shape;217;p17"/>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18" name="Google Shape;218;p17"/>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19" name="Google Shape;219;p17"/>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8"/>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 name="Google Shape;225;p18"/>
          <p:cNvSpPr txBox="1"/>
          <p:nvPr/>
        </p:nvSpPr>
        <p:spPr>
          <a:xfrm>
            <a:off x="552048" y="690061"/>
            <a:ext cx="1145313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Getting Started with Artificial Intelligence</a:t>
            </a:r>
            <a:endParaRPr/>
          </a:p>
        </p:txBody>
      </p:sp>
      <p:pic>
        <p:nvPicPr>
          <p:cNvPr id="226" name="Google Shape;226;p18"/>
          <p:cNvPicPr preferRelativeResize="0"/>
          <p:nvPr/>
        </p:nvPicPr>
        <p:blipFill>
          <a:blip r:embed="rId3">
            <a:alphaModFix/>
          </a:blip>
          <a:stretch>
            <a:fillRect/>
          </a:stretch>
        </p:blipFill>
        <p:spPr>
          <a:xfrm>
            <a:off x="1581750" y="1333001"/>
            <a:ext cx="7344240" cy="5401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9"/>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2" name="Google Shape;232;p19"/>
          <p:cNvSpPr txBox="1"/>
          <p:nvPr/>
        </p:nvSpPr>
        <p:spPr>
          <a:xfrm>
            <a:off x="496843" y="800470"/>
            <a:ext cx="543768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IBM BOB Certificate</a:t>
            </a:r>
            <a:endParaRPr/>
          </a:p>
        </p:txBody>
      </p:sp>
      <p:pic>
        <p:nvPicPr>
          <p:cNvPr id="233" name="Google Shape;233;p19"/>
          <p:cNvPicPr preferRelativeResize="0"/>
          <p:nvPr/>
        </p:nvPicPr>
        <p:blipFill>
          <a:blip r:embed="rId3">
            <a:alphaModFix/>
          </a:blip>
          <a:stretch>
            <a:fillRect/>
          </a:stretch>
        </p:blipFill>
        <p:spPr>
          <a:xfrm>
            <a:off x="1581750" y="1410730"/>
            <a:ext cx="8703770" cy="535262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faa9495876_0_40"/>
          <p:cNvSpPr txBox="1"/>
          <p:nvPr>
            <p:ph type="title"/>
          </p:nvPr>
        </p:nvSpPr>
        <p:spPr>
          <a:xfrm>
            <a:off x="831850" y="170973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239" name="Google Shape;239;g3faa9495876_0_40"/>
          <p:cNvSpPr txBox="1"/>
          <p:nvPr>
            <p:ph idx="1" type="body"/>
          </p:nvPr>
        </p:nvSpPr>
        <p:spPr>
          <a:xfrm>
            <a:off x="831850" y="4589463"/>
            <a:ext cx="10515600" cy="1500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40" name="Google Shape;240;g3faa9495876_0_40"/>
          <p:cNvPicPr preferRelativeResize="0"/>
          <p:nvPr/>
        </p:nvPicPr>
        <p:blipFill>
          <a:blip r:embed="rId3">
            <a:alphaModFix/>
          </a:blip>
          <a:stretch>
            <a:fillRect/>
          </a:stretch>
        </p:blipFill>
        <p:spPr>
          <a:xfrm>
            <a:off x="831850" y="525550"/>
            <a:ext cx="10779100" cy="63324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faa9495876_0_46"/>
          <p:cNvSpPr txBox="1"/>
          <p:nvPr>
            <p:ph type="title"/>
          </p:nvPr>
        </p:nvSpPr>
        <p:spPr>
          <a:xfrm>
            <a:off x="831850" y="170973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246" name="Google Shape;246;g3faa9495876_0_46"/>
          <p:cNvSpPr txBox="1"/>
          <p:nvPr>
            <p:ph idx="1" type="body"/>
          </p:nvPr>
        </p:nvSpPr>
        <p:spPr>
          <a:xfrm>
            <a:off x="831850" y="4589463"/>
            <a:ext cx="10515600" cy="1500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47" name="Google Shape;247;g3faa9495876_0_46"/>
          <p:cNvPicPr preferRelativeResize="0"/>
          <p:nvPr/>
        </p:nvPicPr>
        <p:blipFill>
          <a:blip r:embed="rId3">
            <a:alphaModFix/>
          </a:blip>
          <a:stretch>
            <a:fillRect/>
          </a:stretch>
        </p:blipFill>
        <p:spPr>
          <a:xfrm>
            <a:off x="378275" y="583300"/>
            <a:ext cx="11391499" cy="62746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faa9495876_0_52"/>
          <p:cNvSpPr txBox="1"/>
          <p:nvPr>
            <p:ph type="title"/>
          </p:nvPr>
        </p:nvSpPr>
        <p:spPr>
          <a:xfrm>
            <a:off x="831850" y="170973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253" name="Google Shape;253;g3faa9495876_0_52"/>
          <p:cNvSpPr txBox="1"/>
          <p:nvPr>
            <p:ph idx="1" type="body"/>
          </p:nvPr>
        </p:nvSpPr>
        <p:spPr>
          <a:xfrm>
            <a:off x="831850" y="4589463"/>
            <a:ext cx="10515600" cy="1500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54" name="Google Shape;254;g3faa9495876_0_52"/>
          <p:cNvPicPr preferRelativeResize="0"/>
          <p:nvPr/>
        </p:nvPicPr>
        <p:blipFill>
          <a:blip r:embed="rId3">
            <a:alphaModFix/>
          </a:blip>
          <a:stretch>
            <a:fillRect/>
          </a:stretch>
        </p:blipFill>
        <p:spPr>
          <a:xfrm>
            <a:off x="515975" y="669925"/>
            <a:ext cx="11160051" cy="61880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faa9495876_0_58"/>
          <p:cNvSpPr txBox="1"/>
          <p:nvPr>
            <p:ph type="title"/>
          </p:nvPr>
        </p:nvSpPr>
        <p:spPr>
          <a:xfrm>
            <a:off x="831850" y="170973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260" name="Google Shape;260;g3faa9495876_0_58"/>
          <p:cNvSpPr txBox="1"/>
          <p:nvPr>
            <p:ph idx="1" type="body"/>
          </p:nvPr>
        </p:nvSpPr>
        <p:spPr>
          <a:xfrm>
            <a:off x="831850" y="4589463"/>
            <a:ext cx="10515600" cy="1500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61" name="Google Shape;261;g3faa9495876_0_58"/>
          <p:cNvPicPr preferRelativeResize="0"/>
          <p:nvPr/>
        </p:nvPicPr>
        <p:blipFill>
          <a:blip r:embed="rId3">
            <a:alphaModFix/>
          </a:blip>
          <a:stretch>
            <a:fillRect/>
          </a:stretch>
        </p:blipFill>
        <p:spPr>
          <a:xfrm>
            <a:off x="530775" y="366725"/>
            <a:ext cx="11130475" cy="64912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faa9495876_0_64"/>
          <p:cNvSpPr txBox="1"/>
          <p:nvPr>
            <p:ph type="title"/>
          </p:nvPr>
        </p:nvSpPr>
        <p:spPr>
          <a:xfrm>
            <a:off x="831850" y="170973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267" name="Google Shape;267;g3faa9495876_0_64"/>
          <p:cNvSpPr txBox="1"/>
          <p:nvPr>
            <p:ph idx="1" type="body"/>
          </p:nvPr>
        </p:nvSpPr>
        <p:spPr>
          <a:xfrm>
            <a:off x="831850" y="4589463"/>
            <a:ext cx="10515600" cy="1500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68" name="Google Shape;268;g3faa9495876_0_64"/>
          <p:cNvPicPr preferRelativeResize="0"/>
          <p:nvPr/>
        </p:nvPicPr>
        <p:blipFill>
          <a:blip r:embed="rId3">
            <a:alphaModFix/>
          </a:blip>
          <a:stretch>
            <a:fillRect/>
          </a:stretch>
        </p:blipFill>
        <p:spPr>
          <a:xfrm>
            <a:off x="567275" y="958675"/>
            <a:ext cx="11057451" cy="58993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id="273" name="Google Shape;273;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